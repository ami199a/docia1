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61" r:id="rId16"/>
    <p:sldId id="262" r:id="rId17"/>
    <p:sldId id="263" r:id="rId18"/>
    <p:sldId id="26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66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327C2-E0F4-B95F-13EA-38B3B20C2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1668B-F126-4682-A4E2-78A90CD7B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EF4C9-CC7F-A59B-0D04-AF79E7422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92AF0-797E-3F05-0A62-2256029DCF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23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94CA2-D46F-051E-3525-A19A85C14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C72DA-423D-856D-FABB-4C7FDDCC2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CADA4-EE0A-4E91-5D90-919C4270C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D1F8C-8B90-AFDB-1050-3A6EA49BB1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494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9D3CE-C93D-F0D2-5721-A6F08337B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A1DF8-C109-4219-A770-C1AEA609D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C5AEBD-FE8E-C011-9F2A-F5704ABDF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79C19-3027-33AF-6C6D-6A00394AA9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953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8968E-E0EC-3140-96EF-825AF93EB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2723B-33AE-8737-102C-DF30486F8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908AE-0F46-7891-12C7-A5E14EA3A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3FD7E-7F91-DD6F-C13C-54C703D698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02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5645F-A05A-E22A-09AA-4E13B9022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4D234-6D03-0FF4-FE6C-0D3609FD9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61060-2420-CB12-DA39-453BE6620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797BC-690E-D496-F732-8D89E4193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09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2F3CF-573F-525D-0340-1823C50FB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C0258-20A1-FF1A-362D-064B5CCCA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DC1FF-E3CF-7933-D359-A0628C04A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D113E-2761-D532-B35D-77A9D4D5E3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22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CF4FE-EF90-CEFA-51BC-6491E5BB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787E5-1102-D1A8-4A4D-EC6013C85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3FD5C-025B-5D3C-11E6-4719AC505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10B2A-B8CB-0FD4-9ADC-204BE601B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70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8B51-E6CF-29EE-B2D1-4A74B889C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6D0E4-1FC1-3AEC-E886-69568DBBD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1E9E5E-4D38-1B1C-DE52-DA468D884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EC548-3F8A-F930-2DC8-65791B36B7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7407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E8E9F-33F2-E7B9-05C2-87FA59ECB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86A77-63D0-6386-215C-6EE967494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021650-733C-9650-6AD2-9A1DB9D7D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BF3EB-368D-0B16-B3D6-58A164084A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65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MARIANO GÁLVEZ DE GUATEMALA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2 · ANÁLISIS DE SISTEMAS II (037)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1153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Funcional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400" i="1" dirty="0">
                <a:solidFill>
                  <a:srgbClr val="EA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DocIA: Plataforma Inteligente de Gestión Documental y Generación Automática de Reportes Ejecutivos con IA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7772400" cy="1371600"/>
          </a:xfrm>
          <a:prstGeom prst="roundRect">
            <a:avLst>
              <a:gd name="adj" fmla="val 5333"/>
            </a:avLst>
          </a:prstGeom>
          <a:solidFill>
            <a:srgbClr val="111535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Integrante(s):  </a:t>
            </a:r>
            <a:r>
              <a:rPr lang="en-US" sz="1400" i="1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Amilcar Rodrigo </a:t>
            </a:r>
            <a:r>
              <a:rPr lang="en-US" sz="1400" i="1" dirty="0" err="1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Pacay</a:t>
            </a:r>
            <a:r>
              <a:rPr lang="en-US" sz="1400" i="1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Caal. Carlos Fernando </a:t>
            </a:r>
            <a:r>
              <a:rPr lang="en-US" sz="1400" i="1" dirty="0" err="1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Ligorria</a:t>
            </a:r>
            <a:r>
              <a:rPr lang="en-US" sz="1400" i="1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Flores,·Marco</a:t>
            </a:r>
            <a:r>
              <a:rPr lang="en-US" sz="1400" i="1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Tulio de León Chaman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la reunión:  </a:t>
            </a:r>
            <a:r>
              <a:rPr lang="en-US" sz="1400" b="1" i="1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27/09/2026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 </a:t>
            </a:r>
            <a:r>
              <a:rPr lang="en-US" sz="140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Edgar Raúl Molina Rey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y alcance final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1828800"/>
          </a:xfrm>
          <a:prstGeom prst="roundRect">
            <a:avLst>
              <a:gd name="adj" fmla="val 4000"/>
            </a:avLst>
          </a:prstGeom>
          <a:solidFill>
            <a:srgbClr val="EAEDF7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resuelve tu proyecto?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45775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s-E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automatiza la generación de reportes ejecutivos a partir de documentos extensos (contratos, actas, reportes técnicos) usando IA local. Está pensado para organizaciones que pierden tiempo procesando documentación manualmente y necesitan mantener la confidencialidad de la información.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94415" cy="1828800"/>
          </a:xfrm>
          <a:prstGeom prst="roundRect">
            <a:avLst>
              <a:gd name="adj" fmla="val 4000"/>
            </a:avLst>
          </a:prstGeom>
          <a:solidFill>
            <a:srgbClr val="EAEDF7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final (qué sí incluye tu proyecto)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10545775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s-E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documentos (PDF/DOCX), extracción y análisis de texto con IA local (Ollama), generación automática de reportes ejecutivos en PDF/DOCX, persistencia del historial en PostgreSQL, gestión de accesos y validación segura de entradas.</a:t>
            </a:r>
          </a:p>
        </p:txBody>
      </p:sp>
      <p:sp>
        <p:nvSpPr>
          <p:cNvPr id="11" name="Shape 9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final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15258" cy="3291840"/>
          </a:xfrm>
          <a:prstGeom prst="roundRect">
            <a:avLst>
              <a:gd name="adj" fmla="val 2222"/>
            </a:avLst>
          </a:prstGeom>
          <a:solidFill>
            <a:srgbClr val="EAEDF7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 finales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314949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GT" i="1" dirty="0"/>
              <a:t>Administrador (gestiona accesos y archivos), Usuario/Analista (sube documentos, genera reporte ejecutivo, exporta archivo), Modelo IA local (Ollama) que procesa el análisis del texto.</a:t>
            </a:r>
            <a:endParaRPr lang="es-GT" sz="1200" dirty="0"/>
          </a:p>
          <a:p>
            <a:br>
              <a:rPr lang="es-GT" sz="1200" dirty="0"/>
            </a:b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8218" y="1828800"/>
            <a:ext cx="3515258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4521098" y="201168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IA funcionando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1098" y="2514600"/>
            <a:ext cx="314949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(Llama 3.1 / Mistral) como motor local principal, con </a:t>
            </a:r>
            <a:r>
              <a:rPr lang="es-ES" sz="12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r>
              <a:rPr lang="es-E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s-ES" sz="12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r>
              <a:rPr lang="es-E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/NVIDIA NIM si falla; se usa para analizar el texto extraído y redactar el reporte ejecutivo.</a:t>
            </a:r>
          </a:p>
        </p:txBody>
      </p:sp>
      <p:sp>
        <p:nvSpPr>
          <p:cNvPr id="11" name="Shape 9"/>
          <p:cNvSpPr/>
          <p:nvPr/>
        </p:nvSpPr>
        <p:spPr>
          <a:xfrm>
            <a:off x="8127797" y="1828800"/>
            <a:ext cx="3515258" cy="3291840"/>
          </a:xfrm>
          <a:prstGeom prst="roundRect">
            <a:avLst>
              <a:gd name="adj" fmla="val 2222"/>
            </a:avLst>
          </a:prstGeom>
          <a:solidFill>
            <a:srgbClr val="EAEDF7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8310677" y="201168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final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10677" y="2514600"/>
            <a:ext cx="314949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guarda el historial y los metadatos de cada reporte; </a:t>
            </a:r>
            <a:r>
              <a:rPr lang="es-ES" sz="12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r>
              <a:rPr lang="es-E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s-ES" sz="12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s-E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(Python) con </a:t>
            </a:r>
            <a:r>
              <a:rPr lang="es-ES" sz="12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s-E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HTML/</a:t>
            </a:r>
            <a:r>
              <a:rPr lang="es-ES" sz="12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r>
              <a:rPr lang="es-E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corriendo en local con variables de entorno (.</a:t>
            </a:r>
            <a:r>
              <a:rPr lang="es-ES" sz="12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r>
              <a:rPr lang="es-E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</p:txBody>
      </p:sp>
      <p:sp>
        <p:nvSpPr>
          <p:cNvPr id="14" name="Shape 12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está funcionando ahora?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10048" cy="1051560"/>
          </a:xfrm>
          <a:prstGeom prst="roundRect">
            <a:avLst>
              <a:gd name="adj" fmla="val 6957"/>
            </a:avLst>
          </a:prstGeom>
          <a:solidFill>
            <a:srgbClr val="EAEDF7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731520" y="20162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731520" y="20162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801368"/>
            <a:ext cx="449564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GT" sz="1400" dirty="0"/>
              <a:t>El flujo completo desde la entrada de datos, el procesamiento con IA, hasta la salida.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3008" y="1691640"/>
            <a:ext cx="5410048" cy="1051560"/>
          </a:xfrm>
          <a:prstGeom prst="roundRect">
            <a:avLst>
              <a:gd name="adj" fmla="val 6957"/>
            </a:avLst>
          </a:prstGeom>
          <a:solidFill>
            <a:srgbClr val="EAEDF7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6415888" y="20162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6415888" y="20162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64528" y="1801368"/>
            <a:ext cx="449564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GT" sz="1400" dirty="0"/>
              <a:t>El manejo de errores en las peticiones a la API. 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5410048" cy="1051560"/>
          </a:xfrm>
          <a:prstGeom prst="roundRect">
            <a:avLst>
              <a:gd name="adj" fmla="val 6957"/>
            </a:avLst>
          </a:prstGeom>
          <a:solidFill>
            <a:srgbClr val="EAEDF7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4" name="Shape 12"/>
          <p:cNvSpPr/>
          <p:nvPr/>
        </p:nvSpPr>
        <p:spPr>
          <a:xfrm>
            <a:off x="731520" y="32964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731520" y="32964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081528"/>
            <a:ext cx="449564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GT" dirty="0"/>
              <a:t>El guardado persistente del historial en la base de datos.</a:t>
            </a:r>
            <a:r>
              <a:rPr lang="es-GT" sz="1400" dirty="0"/>
              <a:t> 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3008" y="2971800"/>
            <a:ext cx="5410048" cy="1051560"/>
          </a:xfrm>
          <a:prstGeom prst="roundRect">
            <a:avLst>
              <a:gd name="adj" fmla="val 6957"/>
            </a:avLst>
          </a:prstGeom>
          <a:solidFill>
            <a:srgbClr val="EAEDF7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8" name="Shape 16"/>
          <p:cNvSpPr/>
          <p:nvPr/>
        </p:nvSpPr>
        <p:spPr>
          <a:xfrm>
            <a:off x="6415888" y="32964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/>
          <p:nvPr/>
        </p:nvSpPr>
        <p:spPr>
          <a:xfrm>
            <a:off x="6415888" y="32964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64528" y="3081528"/>
            <a:ext cx="449564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GT" dirty="0"/>
              <a:t>La protección de la API </a:t>
            </a:r>
            <a:r>
              <a:rPr lang="es-GT" dirty="0" err="1"/>
              <a:t>key</a:t>
            </a:r>
            <a:r>
              <a:rPr lang="es-GT" dirty="0"/>
              <a:t> y la validación de las entradas por motivos de ciberseguridad.</a:t>
            </a:r>
            <a:r>
              <a:rPr lang="es-GT" sz="1400" dirty="0"/>
              <a:t> 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/ capturas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380198" y="1609344"/>
            <a:ext cx="11094415" cy="3931920"/>
          </a:xfrm>
          <a:prstGeom prst="roundRect">
            <a:avLst>
              <a:gd name="adj" fmla="val 1860"/>
            </a:avLst>
          </a:prstGeom>
          <a:solidFill>
            <a:srgbClr val="F5F6FA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E4F02C5-3AE3-B134-0A5A-EE068E272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35" y="2359794"/>
            <a:ext cx="9184105" cy="171628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B36FFF0D-C906-EC58-615D-F582D5AA2FB3}"/>
              </a:ext>
            </a:extLst>
          </p:cNvPr>
          <p:cNvSpPr txBox="1"/>
          <p:nvPr/>
        </p:nvSpPr>
        <p:spPr>
          <a:xfrm>
            <a:off x="4363453" y="1315271"/>
            <a:ext cx="2837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Ramas de cada colaborados </a:t>
            </a:r>
            <a:endParaRPr lang="es-GT" dirty="0"/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8A49E4F4-71CE-219E-E9C2-FDA3C336515D}"/>
              </a:ext>
            </a:extLst>
          </p:cNvPr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99232-4EDB-2B1E-D3D0-2A121AF4A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530C84-42CC-F9BE-A694-06663BD6CDAD}"/>
              </a:ext>
            </a:extLst>
          </p:cNvPr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2AE031-14F9-9854-C19C-7CDA21BE2355}"/>
              </a:ext>
            </a:extLst>
          </p:cNvPr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/ capturas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CA8B992-B641-8747-F5EE-35B6CBB3799F}"/>
              </a:ext>
            </a:extLst>
          </p:cNvPr>
          <p:cNvSpPr/>
          <p:nvPr/>
        </p:nvSpPr>
        <p:spPr>
          <a:xfrm>
            <a:off x="548640" y="1371600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B882E59-5779-6145-17FE-EC8B462FEC8A}"/>
              </a:ext>
            </a:extLst>
          </p:cNvPr>
          <p:cNvSpPr/>
          <p:nvPr/>
        </p:nvSpPr>
        <p:spPr>
          <a:xfrm>
            <a:off x="380198" y="1609344"/>
            <a:ext cx="11094415" cy="3931920"/>
          </a:xfrm>
          <a:prstGeom prst="roundRect">
            <a:avLst>
              <a:gd name="adj" fmla="val 1860"/>
            </a:avLst>
          </a:prstGeom>
          <a:solidFill>
            <a:srgbClr val="F5F6FA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0D7482F-B455-33BE-2B7D-648A587FF62A}"/>
              </a:ext>
            </a:extLst>
          </p:cNvPr>
          <p:cNvSpPr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0FEC23E-9FEF-DA93-3CA9-9324C5E32CB8}"/>
              </a:ext>
            </a:extLst>
          </p:cNvPr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94CB919-3F63-BDDD-B520-714BF7D46F4D}"/>
              </a:ext>
            </a:extLst>
          </p:cNvPr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468B35E-F007-2B2C-5AC2-FD01115ACE0B}"/>
              </a:ext>
            </a:extLst>
          </p:cNvPr>
          <p:cNvSpPr txBox="1"/>
          <p:nvPr/>
        </p:nvSpPr>
        <p:spPr>
          <a:xfrm>
            <a:off x="3272590" y="1300765"/>
            <a:ext cx="4392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Backend</a:t>
            </a:r>
            <a:r>
              <a:rPr lang="es-ES" dirty="0"/>
              <a:t> con servicios integrados levantados</a:t>
            </a:r>
            <a:endParaRPr lang="es-GT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24772A9-05D2-DF22-3ACE-9A07B4D17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513" y="1896407"/>
            <a:ext cx="6649453" cy="3522386"/>
          </a:xfrm>
          <a:prstGeom prst="rect">
            <a:avLst/>
          </a:prstGeom>
        </p:spPr>
      </p:pic>
      <p:sp>
        <p:nvSpPr>
          <p:cNvPr id="17" name="Text 20">
            <a:extLst>
              <a:ext uri="{FF2B5EF4-FFF2-40B4-BE49-F238E27FC236}">
                <a16:creationId xmlns:a16="http://schemas.microsoft.com/office/drawing/2014/main" id="{FC97708D-C3C3-B948-521E-F87A7110B658}"/>
              </a:ext>
            </a:extLst>
          </p:cNvPr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21618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AD9F3-27BF-46CE-4A09-8B0580E57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B607AE-62BA-36D6-3B70-0C8F9FBA7115}"/>
              </a:ext>
            </a:extLst>
          </p:cNvPr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2FAE73-13B2-F95B-DD03-07A0B3D61E20}"/>
              </a:ext>
            </a:extLst>
          </p:cNvPr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/ capturas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770EA96-1F8E-EC04-76E0-D837B14F557D}"/>
              </a:ext>
            </a:extLst>
          </p:cNvPr>
          <p:cNvSpPr/>
          <p:nvPr/>
        </p:nvSpPr>
        <p:spPr>
          <a:xfrm>
            <a:off x="548640" y="1387642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A6CCB62-E337-91E8-A59D-5C538026677F}"/>
              </a:ext>
            </a:extLst>
          </p:cNvPr>
          <p:cNvSpPr/>
          <p:nvPr/>
        </p:nvSpPr>
        <p:spPr>
          <a:xfrm>
            <a:off x="380198" y="1609344"/>
            <a:ext cx="11094415" cy="3931920"/>
          </a:xfrm>
          <a:prstGeom prst="roundRect">
            <a:avLst>
              <a:gd name="adj" fmla="val 1860"/>
            </a:avLst>
          </a:prstGeom>
          <a:solidFill>
            <a:srgbClr val="F5F6FA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CCC1DCE-F30C-7036-B0EE-58AF1AAEF612}"/>
              </a:ext>
            </a:extLst>
          </p:cNvPr>
          <p:cNvSpPr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70B5CCB-A92C-0CBD-4BC3-F820709C3DEB}"/>
              </a:ext>
            </a:extLst>
          </p:cNvPr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260BBFC-0C17-AE3A-013E-DC298239E95C}"/>
              </a:ext>
            </a:extLst>
          </p:cNvPr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FD0415A-F5F5-DFA8-194B-1D49CCF83F7C}"/>
              </a:ext>
            </a:extLst>
          </p:cNvPr>
          <p:cNvSpPr txBox="1"/>
          <p:nvPr/>
        </p:nvSpPr>
        <p:spPr>
          <a:xfrm>
            <a:off x="4268815" y="1277985"/>
            <a:ext cx="2160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Pruebas del </a:t>
            </a:r>
            <a:r>
              <a:rPr lang="es-ES" dirty="0" err="1"/>
              <a:t>frontend</a:t>
            </a:r>
            <a:endParaRPr lang="es-GT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1E7B945-38C1-1D07-922D-81C6D5816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272" y="1943291"/>
            <a:ext cx="6096000" cy="2971417"/>
          </a:xfrm>
          <a:prstGeom prst="rect">
            <a:avLst/>
          </a:prstGeom>
        </p:spPr>
      </p:pic>
      <p:sp>
        <p:nvSpPr>
          <p:cNvPr id="17" name="Text 20">
            <a:extLst>
              <a:ext uri="{FF2B5EF4-FFF2-40B4-BE49-F238E27FC236}">
                <a16:creationId xmlns:a16="http://schemas.microsoft.com/office/drawing/2014/main" id="{38A85EC0-5769-D3A4-EC2D-12BB2FB66866}"/>
              </a:ext>
            </a:extLst>
          </p:cNvPr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98403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7E17D-3972-1D38-E7FF-A5D1CB370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E491DD-B003-1EC7-8965-B4017D1644A5}"/>
              </a:ext>
            </a:extLst>
          </p:cNvPr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A5B6CF-1186-7451-C5A0-CFB9144EA620}"/>
              </a:ext>
            </a:extLst>
          </p:cNvPr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/ capturas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3EA9445-DA8F-0DC0-F31C-80B2DF8043DA}"/>
              </a:ext>
            </a:extLst>
          </p:cNvPr>
          <p:cNvSpPr/>
          <p:nvPr/>
        </p:nvSpPr>
        <p:spPr>
          <a:xfrm>
            <a:off x="548640" y="1387642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C2CF228-BCBD-F304-3D37-4240D8305B27}"/>
              </a:ext>
            </a:extLst>
          </p:cNvPr>
          <p:cNvSpPr/>
          <p:nvPr/>
        </p:nvSpPr>
        <p:spPr>
          <a:xfrm>
            <a:off x="380198" y="1609344"/>
            <a:ext cx="11094415" cy="3931920"/>
          </a:xfrm>
          <a:prstGeom prst="roundRect">
            <a:avLst>
              <a:gd name="adj" fmla="val 1860"/>
            </a:avLst>
          </a:prstGeom>
          <a:solidFill>
            <a:srgbClr val="F5F6FA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A04919-D702-E0E2-3C39-801FC69A82C9}"/>
              </a:ext>
            </a:extLst>
          </p:cNvPr>
          <p:cNvSpPr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1D9622E-7DED-DB89-3148-42C47D42BE06}"/>
              </a:ext>
            </a:extLst>
          </p:cNvPr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CED636-860F-8B31-99F8-D69429DADA66}"/>
              </a:ext>
            </a:extLst>
          </p:cNvPr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E59C819-0675-AD2C-45BC-F300E3DCB2A0}"/>
              </a:ext>
            </a:extLst>
          </p:cNvPr>
          <p:cNvSpPr txBox="1"/>
          <p:nvPr/>
        </p:nvSpPr>
        <p:spPr>
          <a:xfrm>
            <a:off x="4268815" y="1277985"/>
            <a:ext cx="290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Se cambio </a:t>
            </a:r>
            <a:r>
              <a:rPr lang="es-ES" dirty="0" err="1"/>
              <a:t>style</a:t>
            </a:r>
            <a:r>
              <a:rPr lang="es-ES" dirty="0"/>
              <a:t> de la interfaz</a:t>
            </a:r>
            <a:endParaRPr lang="es-GT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6610E57-0E6B-80AF-82DA-9E7AFE4AD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230" y="1647317"/>
            <a:ext cx="5021179" cy="3765884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7A84395-9457-AC22-1ACE-9A53FEA19E5E}"/>
              </a:ext>
            </a:extLst>
          </p:cNvPr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98641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1177E-3E1B-BB5F-5DCE-9EAF72FFA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44C635-EEEA-AED7-4D03-33ECF7B46FC0}"/>
              </a:ext>
            </a:extLst>
          </p:cNvPr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2480D2-94A3-0B02-541C-A4B596D0FE48}"/>
              </a:ext>
            </a:extLst>
          </p:cNvPr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/ capturas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6B988E2-65C5-FF8C-8610-422169E1347F}"/>
              </a:ext>
            </a:extLst>
          </p:cNvPr>
          <p:cNvSpPr/>
          <p:nvPr/>
        </p:nvSpPr>
        <p:spPr>
          <a:xfrm>
            <a:off x="548640" y="1387642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C2F9901-30F6-9F03-0CE2-16924F9742A8}"/>
              </a:ext>
            </a:extLst>
          </p:cNvPr>
          <p:cNvSpPr/>
          <p:nvPr/>
        </p:nvSpPr>
        <p:spPr>
          <a:xfrm>
            <a:off x="380198" y="1609344"/>
            <a:ext cx="11094415" cy="3931920"/>
          </a:xfrm>
          <a:prstGeom prst="roundRect">
            <a:avLst>
              <a:gd name="adj" fmla="val 1860"/>
            </a:avLst>
          </a:prstGeom>
          <a:solidFill>
            <a:srgbClr val="F5F6FA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4393AA5-2023-DE52-F4B6-EB67A3C9B081}"/>
              </a:ext>
            </a:extLst>
          </p:cNvPr>
          <p:cNvSpPr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E373274-DEE5-324E-9D0C-E1E0B799316D}"/>
              </a:ext>
            </a:extLst>
          </p:cNvPr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7E2EA89-E6F2-0E5D-8796-A0A897A0BBBD}"/>
              </a:ext>
            </a:extLst>
          </p:cNvPr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7B6217F-FEAE-D125-F799-80E2DCA018F8}"/>
              </a:ext>
            </a:extLst>
          </p:cNvPr>
          <p:cNvSpPr txBox="1"/>
          <p:nvPr/>
        </p:nvSpPr>
        <p:spPr>
          <a:xfrm>
            <a:off x="4268815" y="1277985"/>
            <a:ext cx="348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Base de datos y pruebas del mismo</a:t>
            </a:r>
            <a:endParaRPr lang="es-GT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7BEEC96-0BFF-0D72-B894-991F1F64E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149" y="1869018"/>
            <a:ext cx="6100512" cy="3178623"/>
          </a:xfrm>
          <a:prstGeom prst="rect">
            <a:avLst/>
          </a:prstGeom>
        </p:spPr>
      </p:pic>
      <p:sp>
        <p:nvSpPr>
          <p:cNvPr id="15" name="Text 20">
            <a:extLst>
              <a:ext uri="{FF2B5EF4-FFF2-40B4-BE49-F238E27FC236}">
                <a16:creationId xmlns:a16="http://schemas.microsoft.com/office/drawing/2014/main" id="{17D7B62A-1C98-2BBF-C98E-9385CDDAF543}"/>
              </a:ext>
            </a:extLst>
          </p:cNvPr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20061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83D9DC-A6FA-6C2C-3A42-832073A2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23FD32-9D89-352E-0768-20D1A6F80770}"/>
              </a:ext>
            </a:extLst>
          </p:cNvPr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18AE0D-5E95-9BA2-38F0-BA29192B5510}"/>
              </a:ext>
            </a:extLst>
          </p:cNvPr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/ capturas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F4F018E-0C29-D1FE-ED06-5AA9D16B9011}"/>
              </a:ext>
            </a:extLst>
          </p:cNvPr>
          <p:cNvSpPr/>
          <p:nvPr/>
        </p:nvSpPr>
        <p:spPr>
          <a:xfrm>
            <a:off x="548640" y="1387642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F395508-9670-BB30-26A9-80ACC0956C93}"/>
              </a:ext>
            </a:extLst>
          </p:cNvPr>
          <p:cNvSpPr/>
          <p:nvPr/>
        </p:nvSpPr>
        <p:spPr>
          <a:xfrm>
            <a:off x="380198" y="1609344"/>
            <a:ext cx="11094415" cy="3931920"/>
          </a:xfrm>
          <a:prstGeom prst="roundRect">
            <a:avLst>
              <a:gd name="adj" fmla="val 1860"/>
            </a:avLst>
          </a:prstGeom>
          <a:solidFill>
            <a:srgbClr val="F5F6FA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4061FD9-4081-562C-2902-FAE8F65EC515}"/>
              </a:ext>
            </a:extLst>
          </p:cNvPr>
          <p:cNvSpPr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6859DF5-EB9F-F7FC-FF9C-EC00C0B83050}"/>
              </a:ext>
            </a:extLst>
          </p:cNvPr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94C86D0-A518-F15B-BE22-375CD4F2D471}"/>
              </a:ext>
            </a:extLst>
          </p:cNvPr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623CB6D-5F56-CA71-BD99-3BDDA0241441}"/>
              </a:ext>
            </a:extLst>
          </p:cNvPr>
          <p:cNvSpPr txBox="1"/>
          <p:nvPr/>
        </p:nvSpPr>
        <p:spPr>
          <a:xfrm>
            <a:off x="4268815" y="1277985"/>
            <a:ext cx="348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Base de datos y pruebas del mismo</a:t>
            </a:r>
            <a:endParaRPr lang="es-GT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3C19F9B-F0A8-2F6F-81E1-57867353D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287" y="1676400"/>
            <a:ext cx="8353425" cy="3505200"/>
          </a:xfrm>
          <a:prstGeom prst="rect">
            <a:avLst/>
          </a:prstGeom>
        </p:spPr>
      </p:pic>
      <p:sp>
        <p:nvSpPr>
          <p:cNvPr id="15" name="Text 20">
            <a:extLst>
              <a:ext uri="{FF2B5EF4-FFF2-40B4-BE49-F238E27FC236}">
                <a16:creationId xmlns:a16="http://schemas.microsoft.com/office/drawing/2014/main" id="{A4F80C59-6161-24E2-7B06-D4FACC04B932}"/>
              </a:ext>
            </a:extLst>
          </p:cNvPr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00838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7E4FC-8656-E821-0954-342239AD3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C41459-2C3E-0CE6-BF6F-6E49BA258C95}"/>
              </a:ext>
            </a:extLst>
          </p:cNvPr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3B3485-176C-28E6-A4A4-AB412496903E}"/>
              </a:ext>
            </a:extLst>
          </p:cNvPr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/ capturas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525C78C-97B1-167C-83AF-57A964212462}"/>
              </a:ext>
            </a:extLst>
          </p:cNvPr>
          <p:cNvSpPr/>
          <p:nvPr/>
        </p:nvSpPr>
        <p:spPr>
          <a:xfrm>
            <a:off x="548640" y="1387642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DD82045-412B-2EC6-15FC-333BB089EFEC}"/>
              </a:ext>
            </a:extLst>
          </p:cNvPr>
          <p:cNvSpPr/>
          <p:nvPr/>
        </p:nvSpPr>
        <p:spPr>
          <a:xfrm>
            <a:off x="380198" y="1609344"/>
            <a:ext cx="11094415" cy="3931920"/>
          </a:xfrm>
          <a:prstGeom prst="roundRect">
            <a:avLst>
              <a:gd name="adj" fmla="val 1860"/>
            </a:avLst>
          </a:prstGeom>
          <a:solidFill>
            <a:srgbClr val="F5F6FA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200FDD8-FABE-B983-F16C-593523045FAB}"/>
              </a:ext>
            </a:extLst>
          </p:cNvPr>
          <p:cNvSpPr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7118FE8-3B42-8870-1C01-AD3936A3513A}"/>
              </a:ext>
            </a:extLst>
          </p:cNvPr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92B352E-3DA1-C8F8-A959-F58A093ECF58}"/>
              </a:ext>
            </a:extLst>
          </p:cNvPr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E32186F-FA46-5DCC-BD52-1C5CAB0811DE}"/>
              </a:ext>
            </a:extLst>
          </p:cNvPr>
          <p:cNvSpPr txBox="1"/>
          <p:nvPr/>
        </p:nvSpPr>
        <p:spPr>
          <a:xfrm>
            <a:off x="4268815" y="1277985"/>
            <a:ext cx="348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Base de datos y pruebas del mismo</a:t>
            </a:r>
            <a:endParaRPr lang="es-GT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79ADDC6-0287-2765-7AE7-12AB62C84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807" y="1793785"/>
            <a:ext cx="6647196" cy="3089632"/>
          </a:xfrm>
          <a:prstGeom prst="rect">
            <a:avLst/>
          </a:prstGeom>
        </p:spPr>
      </p:pic>
      <p:sp>
        <p:nvSpPr>
          <p:cNvPr id="17" name="Text 20">
            <a:extLst>
              <a:ext uri="{FF2B5EF4-FFF2-40B4-BE49-F238E27FC236}">
                <a16:creationId xmlns:a16="http://schemas.microsoft.com/office/drawing/2014/main" id="{D880E6A2-86C6-A060-1CE6-B5C90C92D174}"/>
              </a:ext>
            </a:extLst>
          </p:cNvPr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2882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3EB82-709B-5C18-C936-71FBAD8E9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E1C97B-1280-4219-FD75-94603D09B6AD}"/>
              </a:ext>
            </a:extLst>
          </p:cNvPr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56D22E-3C8C-1D29-4931-E045554B90E3}"/>
              </a:ext>
            </a:extLst>
          </p:cNvPr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/ capturas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B39D2A6-7964-2CEC-618B-D71B8D7F6659}"/>
              </a:ext>
            </a:extLst>
          </p:cNvPr>
          <p:cNvSpPr/>
          <p:nvPr/>
        </p:nvSpPr>
        <p:spPr>
          <a:xfrm>
            <a:off x="548640" y="1387642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758E272-3E06-789D-2A65-D7F6F6931394}"/>
              </a:ext>
            </a:extLst>
          </p:cNvPr>
          <p:cNvSpPr/>
          <p:nvPr/>
        </p:nvSpPr>
        <p:spPr>
          <a:xfrm>
            <a:off x="380198" y="1609344"/>
            <a:ext cx="11094415" cy="3931920"/>
          </a:xfrm>
          <a:prstGeom prst="roundRect">
            <a:avLst>
              <a:gd name="adj" fmla="val 1860"/>
            </a:avLst>
          </a:prstGeom>
          <a:solidFill>
            <a:srgbClr val="F5F6FA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C718B52-E574-EACC-DDE5-4B9749BAD70A}"/>
              </a:ext>
            </a:extLst>
          </p:cNvPr>
          <p:cNvSpPr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EF157CF-0CCC-F22A-9729-85CF92CE0D19}"/>
              </a:ext>
            </a:extLst>
          </p:cNvPr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D6D8700-8D2C-CAA3-2833-1B00C2D21D0F}"/>
              </a:ext>
            </a:extLst>
          </p:cNvPr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ABCD2C2-50D4-438D-A80B-2C856F260D22}"/>
              </a:ext>
            </a:extLst>
          </p:cNvPr>
          <p:cNvSpPr txBox="1"/>
          <p:nvPr/>
        </p:nvSpPr>
        <p:spPr>
          <a:xfrm>
            <a:off x="4268815" y="1277985"/>
            <a:ext cx="348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Base de datos y pruebas del mismo</a:t>
            </a:r>
            <a:endParaRPr lang="es-GT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CF90BED-44C7-3803-4152-6DAD0A747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778" y="1738756"/>
            <a:ext cx="7248274" cy="3483135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57C4D34D-9A14-611E-8C2C-265C7242229B}"/>
              </a:ext>
            </a:extLst>
          </p:cNvPr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2191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6618F-F497-0185-5187-6270C3302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85CE21-0C7C-8B87-B502-5C4604A662A0}"/>
              </a:ext>
            </a:extLst>
          </p:cNvPr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253266-A396-386B-3356-9387FBF1C9F2}"/>
              </a:ext>
            </a:extLst>
          </p:cNvPr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/ capturas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3F29BC-FAE3-BA0D-8004-F23BA09A5BD5}"/>
              </a:ext>
            </a:extLst>
          </p:cNvPr>
          <p:cNvSpPr/>
          <p:nvPr/>
        </p:nvSpPr>
        <p:spPr>
          <a:xfrm>
            <a:off x="548640" y="1387642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384477-E7C4-A0A4-EE8C-E6A858AD939F}"/>
              </a:ext>
            </a:extLst>
          </p:cNvPr>
          <p:cNvSpPr/>
          <p:nvPr/>
        </p:nvSpPr>
        <p:spPr>
          <a:xfrm>
            <a:off x="380198" y="1609344"/>
            <a:ext cx="11094415" cy="3931920"/>
          </a:xfrm>
          <a:prstGeom prst="roundRect">
            <a:avLst>
              <a:gd name="adj" fmla="val 1860"/>
            </a:avLst>
          </a:prstGeom>
          <a:solidFill>
            <a:srgbClr val="F5F6FA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E895AE-4CAB-49C7-A59D-6628A89B3E28}"/>
              </a:ext>
            </a:extLst>
          </p:cNvPr>
          <p:cNvSpPr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15FB608-BD0C-5A25-0385-78F37719F001}"/>
              </a:ext>
            </a:extLst>
          </p:cNvPr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51D2891-BE0A-1CA9-63F1-EC44598293FF}"/>
              </a:ext>
            </a:extLst>
          </p:cNvPr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E37AC5E-D826-B9D5-D168-0915B2CD6550}"/>
              </a:ext>
            </a:extLst>
          </p:cNvPr>
          <p:cNvSpPr txBox="1"/>
          <p:nvPr/>
        </p:nvSpPr>
        <p:spPr>
          <a:xfrm>
            <a:off x="4268815" y="1277985"/>
            <a:ext cx="286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Se agrego la función de Q&amp;A</a:t>
            </a:r>
            <a:endParaRPr lang="es-GT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28F7DD8-0BE0-0188-5604-B336019D6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335" y="1699935"/>
            <a:ext cx="8309811" cy="3458959"/>
          </a:xfrm>
          <a:prstGeom prst="rect">
            <a:avLst/>
          </a:prstGeom>
        </p:spPr>
      </p:pic>
      <p:sp>
        <p:nvSpPr>
          <p:cNvPr id="15" name="Text 20">
            <a:extLst>
              <a:ext uri="{FF2B5EF4-FFF2-40B4-BE49-F238E27FC236}">
                <a16:creationId xmlns:a16="http://schemas.microsoft.com/office/drawing/2014/main" id="{9126E19E-D73D-A99B-C6DB-943256F61341}"/>
              </a:ext>
            </a:extLst>
          </p:cNvPr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27525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C3F7E-1213-5EE7-871B-9B3F73DBC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2AE74A-5298-C9CC-F7AF-0A356DB47A6A}"/>
              </a:ext>
            </a:extLst>
          </p:cNvPr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ACFD98-3CC1-EFD5-7182-6FB04E33D6ED}"/>
              </a:ext>
            </a:extLst>
          </p:cNvPr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/ capturas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49672BB-56A0-72E3-02B3-F21EB4E266E7}"/>
              </a:ext>
            </a:extLst>
          </p:cNvPr>
          <p:cNvSpPr/>
          <p:nvPr/>
        </p:nvSpPr>
        <p:spPr>
          <a:xfrm>
            <a:off x="548640" y="1387642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8FC6F6A-10EE-4D4D-039B-3056BBB0E3EE}"/>
              </a:ext>
            </a:extLst>
          </p:cNvPr>
          <p:cNvSpPr/>
          <p:nvPr/>
        </p:nvSpPr>
        <p:spPr>
          <a:xfrm>
            <a:off x="380198" y="1609344"/>
            <a:ext cx="11094415" cy="3931920"/>
          </a:xfrm>
          <a:prstGeom prst="roundRect">
            <a:avLst>
              <a:gd name="adj" fmla="val 1860"/>
            </a:avLst>
          </a:prstGeom>
          <a:solidFill>
            <a:srgbClr val="F5F6FA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FF27016-E744-C584-DFA1-6840A57FD874}"/>
              </a:ext>
            </a:extLst>
          </p:cNvPr>
          <p:cNvSpPr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26EE8BB-8886-3DBF-B8A3-808AB8E95678}"/>
              </a:ext>
            </a:extLst>
          </p:cNvPr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A3F9676-86E6-1DC9-2EF3-B12BDA1315D4}"/>
              </a:ext>
            </a:extLst>
          </p:cNvPr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9008BA7-60E8-A402-C70A-9F5F55632822}"/>
              </a:ext>
            </a:extLst>
          </p:cNvPr>
          <p:cNvSpPr txBox="1"/>
          <p:nvPr/>
        </p:nvSpPr>
        <p:spPr>
          <a:xfrm>
            <a:off x="4268815" y="1277985"/>
            <a:ext cx="2388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Formatos para reportes</a:t>
            </a:r>
            <a:endParaRPr lang="es-GT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741640E-228D-242A-2D7A-FB7DCA6EF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553" y="1921637"/>
            <a:ext cx="6841205" cy="3417894"/>
          </a:xfrm>
          <a:prstGeom prst="rect">
            <a:avLst/>
          </a:prstGeom>
        </p:spPr>
      </p:pic>
      <p:sp>
        <p:nvSpPr>
          <p:cNvPr id="15" name="Text 20">
            <a:extLst>
              <a:ext uri="{FF2B5EF4-FFF2-40B4-BE49-F238E27FC236}">
                <a16:creationId xmlns:a16="http://schemas.microsoft.com/office/drawing/2014/main" id="{A79C764E-CEDB-A7E0-882C-03E10800DBBD}"/>
              </a:ext>
            </a:extLst>
          </p:cNvPr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84787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errores y ciberseguridad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10048" cy="1737360"/>
          </a:xfrm>
          <a:prstGeom prst="roundRect">
            <a:avLst>
              <a:gd name="adj" fmla="val 4211"/>
            </a:avLst>
          </a:prstGeom>
          <a:solidFill>
            <a:srgbClr val="EAEDF7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777240" y="1856232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normal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952848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s-E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carga un documento PDF o DOCX en la interfaz web, el </a:t>
            </a:r>
            <a:r>
              <a:rPr lang="es-ES" sz="115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r>
              <a:rPr lang="es-E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recibe el archivo correctamente, el módulo ollama_service.py procesa el contenido mediante la IA y el sistema devuelve y almacena el reporte ejecutivo generado.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3008" y="1691640"/>
            <a:ext cx="5410048" cy="1737360"/>
          </a:xfrm>
          <a:prstGeom prst="roundRect">
            <a:avLst>
              <a:gd name="adj" fmla="val 4211"/>
            </a:avLst>
          </a:prstGeom>
          <a:solidFill>
            <a:srgbClr val="EAEDF7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6461608" y="1856232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con error controlado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61608" y="2240280"/>
            <a:ext cx="4952848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s-E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modelo local de IA no está en ejecución, se agota el tiempo de espera, o el usuario sube un archivo corrupto, el </a:t>
            </a:r>
            <a:r>
              <a:rPr lang="es-ES" sz="115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r>
              <a:rPr lang="es-E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captura la excepción mediante bloques try-catch y retorna un mensaje de alerta amigable a la interfaz (ej. "Servicio de IA temporalmente no disponible") sin que el servidor colapse ni exponga trazas de código.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410048" cy="1737360"/>
          </a:xfrm>
          <a:prstGeom prst="roundRect">
            <a:avLst>
              <a:gd name="adj" fmla="val 4211"/>
            </a:avLst>
          </a:prstGeom>
          <a:solidFill>
            <a:srgbClr val="EAEDF7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777240" y="3822192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4952848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s-E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garantiza la atomicidad de las operaciones asegurando que el documento procesado se guarde completamente en los directorios físicos (</a:t>
            </a:r>
            <a:r>
              <a:rPr lang="es-ES" sz="115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archivos_generados</a:t>
            </a:r>
            <a:r>
              <a:rPr lang="es-E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s-ES" sz="115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archivos_rag</a:t>
            </a:r>
            <a:r>
              <a:rPr lang="es-E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antes de registrar la ruta en la base de datos del historial, evitando así registros huérfanos o pérdida de archivos.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3008" y="3657600"/>
            <a:ext cx="5410048" cy="1737360"/>
          </a:xfrm>
          <a:prstGeom prst="roundRect">
            <a:avLst>
              <a:gd name="adj" fmla="val 4211"/>
            </a:avLst>
          </a:prstGeom>
          <a:solidFill>
            <a:srgbClr val="EAEDF7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6461608" y="3822192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 (obligatoria)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61608" y="4206240"/>
            <a:ext cx="4952848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s-E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configuración sensible, rutas o credenciales se gestionan exclusivamente a través del archivo .</a:t>
            </a:r>
            <a:r>
              <a:rPr lang="es-ES" sz="115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r>
              <a:rPr lang="es-E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(excluido del control de versiones con .</a:t>
            </a:r>
            <a:r>
              <a:rPr lang="es-ES" sz="115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gitignore</a:t>
            </a:r>
            <a:r>
              <a:rPr lang="es-E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sumado a una sanitización estricta de los documentos y </a:t>
            </a:r>
            <a:r>
              <a:rPr lang="es-ES" sz="115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r>
              <a:rPr lang="es-E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entrada para prevenir inyecciones o desbordamientos antes de enviarlos a la IA.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2FFC5571-2E46-6A87-D621-0D18993C06B4}"/>
              </a:ext>
            </a:extLst>
          </p:cNvPr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TÉCNICO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Elemento técnico destacado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3931920"/>
          </a:xfrm>
          <a:prstGeom prst="roundRect">
            <a:avLst>
              <a:gd name="adj" fmla="val 1860"/>
            </a:avLst>
          </a:prstGeom>
          <a:solidFill>
            <a:srgbClr val="12222B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0362895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procesar_y_guardar_documento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archivo_nombre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texto_extraido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1.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Llamada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la IA con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manejo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errores</a:t>
            </a:r>
            <a:endParaRPr lang="en-US" sz="900" dirty="0">
              <a:solidFill>
                <a:srgbClr val="9BE3C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ollama_service.generar_reporte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texto_extraido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("La API de IA no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devolvió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.")</a:t>
            </a:r>
          </a:p>
          <a:p>
            <a:pPr marL="0" indent="0">
              <a:buNone/>
            </a:pPr>
            <a:endParaRPr lang="en-US" sz="900" dirty="0">
              <a:solidFill>
                <a:srgbClr val="9BE3C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2.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Persistencia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 con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consultas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parametrizadas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Ciberseguridad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cursor.execute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"""INSERT INTO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historial_documentos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nombre_archivo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VALUES (%s, %s, '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Completado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')""",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archivo_nombre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db_connection.commit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{"status": "success", "data":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 as e: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db_connection.rollback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#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Consistencia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revierte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hay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fallo</a:t>
            </a:r>
            <a:endParaRPr lang="en-US" sz="900" dirty="0">
              <a:solidFill>
                <a:srgbClr val="9BE3C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manejar_error_api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(e)     # Error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controlado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sin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exponer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 backend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{"status": "error", "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mensaje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"Fallo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 </a:t>
            </a:r>
            <a:r>
              <a:rPr lang="en-US" sz="900" dirty="0" err="1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procesamiento</a:t>
            </a:r>
            <a:r>
              <a:rPr lang="en-US" sz="9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."}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5DEBD15-5E29-58AC-655C-12E55E022C2D}"/>
              </a:ext>
            </a:extLst>
          </p:cNvPr>
          <p:cNvSpPr/>
          <p:nvPr/>
        </p:nvSpPr>
        <p:spPr>
          <a:xfrm>
            <a:off x="7018421" y="2117558"/>
            <a:ext cx="4379495" cy="288757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GT" sz="1000" dirty="0"/>
              <a:t>Demuestra la consolidación del flujo completo. Resuelve la persistencia segura del historial en la base de datos garantizando la consistencia de la información (usando </a:t>
            </a:r>
            <a:r>
              <a:rPr lang="es-GT" sz="1000" dirty="0" err="1"/>
              <a:t>commit</a:t>
            </a:r>
            <a:r>
              <a:rPr lang="es-GT" sz="1000" dirty="0"/>
              <a:t> y </a:t>
            </a:r>
            <a:r>
              <a:rPr lang="es-GT" sz="1000" dirty="0" err="1"/>
              <a:t>rollback</a:t>
            </a:r>
            <a:r>
              <a:rPr lang="es-GT" sz="1000" dirty="0"/>
              <a:t>). Además, implementa un manejo de excepciones controlado que evita que el servidor colapse si la API de IA falla, protegiendo el sistema de interrupciones abruptas.</a:t>
            </a:r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CA1081DE-9026-3A6B-39FA-E8DD29B791DE}"/>
              </a:ext>
            </a:extLst>
          </p:cNvPr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MIRANDO ADELANTE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Pendientes y riesgos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10048" cy="3931920"/>
          </a:xfrm>
          <a:prstGeom prst="roundRect">
            <a:avLst>
              <a:gd name="adj" fmla="val 1860"/>
            </a:avLst>
          </a:prstGeom>
          <a:solidFill>
            <a:srgbClr val="EAEDF7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aún falta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754880" cy="3108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asíncrono (</a:t>
            </a:r>
            <a:r>
              <a:rPr lang="es-ES" sz="13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r>
              <a:rPr lang="es-E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3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r>
              <a:rPr lang="es-E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Implementar tareas en segundo plano (ej. para archivos PDF o DOCX muy extensos) para que el usuario no se quede esperando en una pantalla de carga congelada.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Contenerización y Despliegue: Empaquetar los servicios (</a:t>
            </a:r>
            <a:r>
              <a:rPr lang="es-ES" sz="13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r>
              <a:rPr lang="es-E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3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s-E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conexión a base de datos) utilizando Docker para preparar el paso a un entorno de producción.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estrés: Validar cómo se comporta el sistema si múltiples usuarios suben documentos al mismo tiempo.</a:t>
            </a:r>
            <a:endParaRPr lang="en-US" sz="1300" i="1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33008" y="1691640"/>
            <a:ext cx="5410048" cy="3931920"/>
          </a:xfrm>
          <a:prstGeom prst="roundRect">
            <a:avLst>
              <a:gd name="adj" fmla="val 1860"/>
            </a:avLst>
          </a:prstGeom>
          <a:solidFill>
            <a:srgbClr val="EAEDF7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6507328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que ves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07328" y="2286000"/>
            <a:ext cx="4754880" cy="3108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GT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respuesta excesivos o saturación de memoria (RAM/VRAM) al procesar documentos muy grandes con el modelo local (Ollama).</a:t>
            </a:r>
          </a:p>
          <a:p>
            <a:pPr lvl="0"/>
            <a:r>
              <a:rPr lang="es-GT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manejarlo: Implementar la fragmentación de texto (</a:t>
            </a:r>
            <a:r>
              <a:rPr lang="es-GT" sz="12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r>
              <a:rPr lang="es-GT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enviar el documento en partes más pequeñas a la IA, y limitar el tamaño máximo de subida de archivos por usuario.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del servicio de base de datos o latencia en la escritura del historial.</a:t>
            </a:r>
          </a:p>
          <a:p>
            <a:pPr lvl="0"/>
            <a:r>
              <a:rPr lang="es-E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manejarlo: Mantener el uso de transacciones seguras (como el </a:t>
            </a:r>
            <a:r>
              <a:rPr lang="es-ES" sz="12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r>
              <a:rPr lang="es-E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ya diseñaste) y configurar reconexiones automáticas en el </a:t>
            </a:r>
            <a:r>
              <a:rPr lang="es-ES" sz="12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r>
              <a:rPr lang="es-E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Incompatibilidad de lectura con ciertos formatos de PDF (ej. </a:t>
            </a:r>
            <a:r>
              <a:rPr lang="es-ES" sz="12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r>
              <a:rPr lang="es-E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escaneados que son imágenes en lugar de texto).</a:t>
            </a:r>
          </a:p>
          <a:p>
            <a:pPr lvl="0"/>
            <a:r>
              <a:rPr lang="es-E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manejarlo: Agregar una validación inicial que alerte al usuario si el PDF requiere OCR (Reconocimiento Óptico de Caracteres) antes de intentar procesarlo y fallar.</a:t>
            </a:r>
          </a:p>
          <a:p>
            <a:pPr lvl="0"/>
            <a:endParaRPr lang="es-GT" sz="1300" i="1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223024BC-2BDF-7BC2-10DF-E770BDDDBE6C}"/>
              </a:ext>
            </a:extLst>
          </p:cNvPr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Camino a la entrega final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965960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el documento de arquitectura y el MANUAL_USO_FRONTEND.txt detallando la integración entre tu </a:t>
            </a:r>
            <a:r>
              <a:rPr lang="es-E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r>
              <a:rPr 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módulo de inteligencia artificial (ollama_service.py) y la estructura de tu base de datos para el historial de reportes.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3017520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 recorrido mostrando el flujo completo: cargar un archivo PDF/DOCX en la interfaz, mostrar cómo la IA genera el reporte, simular un error controlado (como apagar el servidor local de IA) para mostrar tu manejo de excepciones, y finalmente, comprobar en vivo que los datos se persisten en la base de datos.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4069080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Cotejar los entregables para asegurar que los evaluadores vean claramente la separación de credenciales mediante el uso exclusivo de archivos .</a:t>
            </a:r>
            <a:r>
              <a:rPr lang="es-E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r>
              <a:rPr 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(sin subir al repositorio gracias al .</a:t>
            </a:r>
            <a:r>
              <a:rPr lang="es-E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gitignore</a:t>
            </a:r>
            <a:r>
              <a:rPr lang="es-E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que las entradas del usuario pasan por validación antes de procesarse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796B8AEE-04F5-B6F3-A5B9-CBA47C214551}"/>
              </a:ext>
            </a:extLst>
          </p:cNvPr>
          <p:cNvSpPr/>
          <p:nvPr/>
        </p:nvSpPr>
        <p:spPr>
          <a:xfrm>
            <a:off x="54864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Avance 2 — Funcional  |  Análisis de Sistemas II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1572</Words>
  <Application>Microsoft Office PowerPoint</Application>
  <PresentationFormat>Panorámica</PresentationFormat>
  <Paragraphs>170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2211171 - AMILCAR RODRIGUEZ PACAY CAAL</cp:lastModifiedBy>
  <cp:revision>2</cp:revision>
  <dcterms:created xsi:type="dcterms:W3CDTF">2026-07-07T13:50:08Z</dcterms:created>
  <dcterms:modified xsi:type="dcterms:W3CDTF">2026-09-29T03:36:46Z</dcterms:modified>
</cp:coreProperties>
</file>